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1A2880"/>
          </a:solidFill>
          <a:ln w="12700">
            <a:solidFill>
              <a:srgbClr val="1A28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"/>
            <a:ext cx="1371600" cy="13716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194560" cy="34747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|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TTK Companion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Pipeline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480" y="32918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Pharmaceutical Knowledge Capture for Tech Transfers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0E2E"/>
          </a:solidFill>
          <a:ln w="12700">
            <a:solidFill>
              <a:srgbClr val="060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knowledge.ngrok-free.app    |    github.com/girishkurup/ttk-knowledge-agent    |    Powered by Claude (Anthropic)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834640" cy="4572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D1B4B"/>
                </a:solidFill>
              </a:rPr>
              <a:t>⚠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38912" y="2331720"/>
            <a:ext cx="250545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tacit knowledge lost during pilot-to-commercial scale-up transitions in pharmaceutical manufacturing. Repeated batch failures. No cross-batch pattern detection.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834640" cy="4572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960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5196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949AB"/>
                </a:solidFill>
              </a:rPr>
              <a:t>⚙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10712" y="2331720"/>
            <a:ext cx="250545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6-agent AI pipeline that automatically captures, structures and preserves process engineer knowledge during batch deviation events via a structured interview.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60120"/>
            <a:ext cx="283464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960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695C"/>
                </a:solidFill>
              </a:rPr>
              <a:t>✓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82512" y="2331720"/>
            <a:ext cx="250545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produces a Knowledge Article, Best Practices Checklist and an interactive Knowledge Graph — all stored in a queryable SQLite database.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 knowledge.ngrok-free.app   |   Source:  github.com/girishkurup/ttk-knowledge-agent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Companion Agent Pipeline  |  Executive Briefing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— Knowledge Loss at Scale-Up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64008" cy="56692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8046720" cy="566928"/>
          </a:xfrm>
          <a:prstGeom prst="rect">
            <a:avLst/>
          </a:prstGeom>
          <a:solidFill>
            <a:srgbClr val="F4F5FB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Tacit knowledge lost when experienced engineers retire or transfer between sites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64008" cy="56692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55648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5564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failures repeat because lessons are never formally documented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505456"/>
            <a:ext cx="64008" cy="56692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505456"/>
            <a:ext cx="8046720" cy="566928"/>
          </a:xfrm>
          <a:prstGeom prst="rect">
            <a:avLst/>
          </a:prstGeom>
          <a:solidFill>
            <a:srgbClr val="F4F5FB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0545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deviations at commercial scale (capping, weight variability) cost millions in rejected batches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255264"/>
            <a:ext cx="64008" cy="56692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255264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5526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documentation is manual, inconsistent, and rarely completed in practice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4005072"/>
            <a:ext cx="64008" cy="56692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005072"/>
            <a:ext cx="8046720" cy="566928"/>
          </a:xfrm>
          <a:prstGeom prst="rect">
            <a:avLst/>
          </a:prstGeom>
          <a:solidFill>
            <a:srgbClr val="F4F5FB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0507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cross-batch pattern detection — each deviation event treated in isolation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38160" y="1005840"/>
            <a:ext cx="777240" cy="37490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100584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38160" y="1719072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43230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38160" y="314553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38160" y="385876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Companion Agent Pipeline  |  Executive Briefing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Agentic? — Suitability Criteria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14400"/>
            <a:ext cx="278892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71600"/>
            <a:ext cx="402336" cy="402336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33472" y="9144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" y="914400"/>
            <a:ext cx="23317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&amp; High Volume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137160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capture interviews occur after every batch deviation event across all products, sites and engineers — a continuous, recurring need.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91440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914400"/>
            <a:ext cx="2788920" cy="38404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55264" y="1371600"/>
            <a:ext cx="402336" cy="402336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41264" y="9144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63824" y="914400"/>
            <a:ext cx="23317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58184" y="137160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quantifiable: article completeness, graph node count, checklist coverage, sessions captured. No ambiguity in what 'done' looks like.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71616" y="91440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914400"/>
            <a:ext cx="2788920" cy="38404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1371600"/>
            <a:ext cx="402336" cy="402336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49056" y="9144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71616" y="914400"/>
            <a:ext cx="23317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 is Slow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65976" y="137160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post-event documentation takes days or weeks — if it happens at all. The agent captures the same knowledge in 5 minutes during the event.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" y="292608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926080"/>
            <a:ext cx="278892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383280"/>
            <a:ext cx="402336" cy="40233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33472" y="292608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56032" y="2926080"/>
            <a:ext cx="23317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 is Expensive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" y="338328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lessons lead to repeated batch failures. Each rejected commercial batch costs millions. Agentic capture breaks the repeat-failure cycle.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63824" y="292608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63824" y="2926080"/>
            <a:ext cx="2788920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55264" y="3383280"/>
            <a:ext cx="402336" cy="402336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55264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41264" y="292608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163824" y="2926080"/>
            <a:ext cx="23317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Logic with Clear Handoffs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58184" y="338328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→ Synthesis → Graph → Admin is a defined pipeline with structured inputs/outputs at each stage — ideal for an agent chain.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71616" y="292608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71616" y="2926080"/>
            <a:ext cx="27889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63056" y="3383280"/>
            <a:ext cx="402336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449056" y="292608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071616" y="2926080"/>
            <a:ext cx="23317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ERP / CRM Integration Required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65976" y="338328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SQLite + file system. No SAP, Salesforce or complex enterprise integration — simple deployment, low risk, fast time to value.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Companion Agent Pipeline  |  Executive Briefing  |  2026   |   All 6 criteria met — strong fit for agentic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— Two Pipelines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PIPELINE  —  Automatic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Interview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7190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5-turn conversation with process engineer via WebSocket streaming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1965960"/>
            <a:ext cx="128016" cy="41148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23160"/>
            <a:ext cx="411480" cy="4114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Synthesis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679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Knowledge Article + Risk Verification Checklist from interview JSON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926080"/>
            <a:ext cx="128016" cy="41148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83280"/>
            <a:ext cx="411480" cy="4114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383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639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entities &amp; relationships into graph nodes/edges, stored in SQLite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1440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914400"/>
            <a:ext cx="4160520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914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PIPELINE  —  On Demand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1463040"/>
            <a:ext cx="411480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KA 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17190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all sessions into one authoritative Knowledge Article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965960"/>
            <a:ext cx="128016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2423160"/>
            <a:ext cx="411480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4960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Checklist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2679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De-duplicated cross-session best practices checklist with [CRITICAL] tags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2926080"/>
            <a:ext cx="128016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3383280"/>
            <a:ext cx="411480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94960" y="3383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Graph Agent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3639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knowledge graph — SQL merge or full LLM re-extraction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Claude API (Anthropic)  |  FastAPI  |  WebSocket  |  SQLite  |  vis-network  |  ngrok  |  GitHub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Companion Agent Pipeline  |  Executive Briefing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AI Agents — Roles &amp; Responsibilities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88920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16736"/>
            <a:ext cx="384048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914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Interview Agent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1316736"/>
            <a:ext cx="21305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elicitation via WebSocket streaming. ICH Q9 risk classification. EU SPOR dosage form referential. Max 7 turns.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14400"/>
            <a:ext cx="2788920" cy="34747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16736"/>
            <a:ext cx="384048" cy="38404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54680" y="914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Synthesis Agent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21608" y="1316736"/>
            <a:ext cx="21305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Knowledge Article + Risk Verification Checklist from interview JSON. Never infers — only confirmed engineer data.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9144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914400"/>
            <a:ext cx="2788920" cy="34747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316736"/>
            <a:ext cx="384048" cy="38404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80760" y="914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Agent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47688" y="1316736"/>
            <a:ext cx="21305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entities &amp; relationships into structured graph JSON. 14 node types. Stores nodes/edges in SQLite automatically.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26080"/>
            <a:ext cx="278892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328416"/>
            <a:ext cx="384048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28600" y="2926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KA Agent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5528" y="3328416"/>
            <a:ext cx="21305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all session articles into one authoritative document. Surfaces patterns and tacit knowledge across all sessions.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54680" y="292608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926080"/>
            <a:ext cx="278892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3328416"/>
            <a:ext cx="384048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154680" y="2926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Checklist Agent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21608" y="3328416"/>
            <a:ext cx="21305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best practices checklist with [CRITICAL] tags. De-duplicated, phase-grouped: Pre-Scale-Up → Documentation.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292608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2926080"/>
            <a:ext cx="2788920" cy="3474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3328416"/>
            <a:ext cx="384048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80760" y="2926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Graph Agent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47688" y="3328416"/>
            <a:ext cx="21305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graph via SQL merge (fast, no LLM) or full re-extraction. Cross-session edges: CONFIRMED_BY, ALSO_OBSERVED_IN.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Companion Agent Pipeline  |  Executive Briefing  |  2026   |   Agents 1–3 run automatically | Agents 4–6 run on demand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1704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51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Interview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34416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streaming — AI agent types live in browser with no page refresh. Up to 7 engineer turns.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64008" cy="11704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051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Article Generation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34416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Markdown article with context, root cause, mitigation and knowledge classification tags.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64008" cy="11704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377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Best Practices Checklist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267004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Checkbox-enabled checklist with [CRITICAL] tags. Phase-grouped: Pre-Scale-Up → Compression → Documentation.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86000"/>
            <a:ext cx="64008" cy="11704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377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Knowledge Graph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267004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nodes, 46 edges across 4 sessions. vis-network browser visualisation with search and node inspector.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64008" cy="11704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703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Persistence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399592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message, artifact, graph node/edge stored. Auto-migration of legacy JSON files on startup.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64008" cy="11704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703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9472" y="399592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sidebar, transcript viewer modal, tab results, LLM streaming — all via WebSocket.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Companion Agent Pipeline  |  Executive Briefing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Graph — Unified Cross-Session Intelligence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12801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128016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14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1920240" cy="12801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914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20240" cy="12801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144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Types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532888"/>
            <a:ext cx="64008" cy="50292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23160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types: Batch, Product, Engineer, Operator, Equipment, Site, Issue, Parameter, RootCause, Material, Action, Resolution, Lesson, Observation, Session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337560"/>
            <a:ext cx="64008" cy="50292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27832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Claude LLM from interview transcripts automatically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142232"/>
            <a:ext cx="64008" cy="50292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32504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SQLite — graph_nodes + graph_edges tables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2532888"/>
            <a:ext cx="64008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423160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edges: CONFIRMED_BY, ALSO_OBSERVED_IN, GENERALISES_TO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3337560"/>
            <a:ext cx="64008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227832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interactively via vis-network in browser — search, filter, inspect any node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4142232"/>
            <a:ext cx="64008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4032504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merge all sessions (SQL, instant) or re-extract via LLM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26280" y="2377440"/>
            <a:ext cx="45720" cy="237744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Companion Agent Pipeline  |  Executive Briefing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0E2E"/>
          </a:solidFill>
          <a:ln w="12700">
            <a:solidFill>
              <a:srgbClr val="060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Guardrails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" cy="5486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9601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SPOR referential for dosage form classification — controlled vocabulary only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57200" cy="5486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65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8745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Q9 risk classification — High / Medium / Low — confirmed by engineer before proceeding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57200" cy="5486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80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27889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article or checklist published without explicit engineer confirmation — GxP compliant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457200" cy="5486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94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4128" y="37033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GxP audit trail — all agent actions logged with timestamp, session ID and engineer identity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051560"/>
            <a:ext cx="457200" cy="5486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51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13248" y="9601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handling per data privacy policy — engineer names stored only in session context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965960"/>
            <a:ext cx="457200" cy="5486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965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13248" y="18745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agent versions all node and edge mutations — no silent overwrites of confirmed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457200" cy="5486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880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13248" y="27889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classifications — agent always confirms with engineer before registering any tag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2E"/>
          </a:solidFill>
          <a:ln w="12700">
            <a:solidFill>
              <a:srgbClr val="060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Companion Agent Pipeline  |  Executive Briefing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&amp; Access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88920" cy="4389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2514600" cy="402336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8132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app:app --reload --port 8000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view: /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dashboard: /admin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DB: ttk_output/ttk_knowledge.db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788920" cy="43891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144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481328"/>
            <a:ext cx="2514600" cy="402336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48132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knowledge.ngrok-free.app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static domain (free tier)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URL — no change on restart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Engineer: knowledge.ngrok-free.app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knowledge.ngrok-free.app/admin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14400"/>
            <a:ext cx="2788920" cy="4389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9144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(RECOMMENDED)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481328"/>
            <a:ext cx="2514600" cy="402336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48132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Railway.app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railway.toml included in repo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github.com/girishkurup/ttk-knowledge-agent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ANTHROPIC_API_KEY in Railway dashboard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C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URL — no laptop required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github.com/girishkurup/ttk-knowledge-agent  —  All source code + session data + SQLite DB committed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Companion Agent Pipeline  |  Executive Briefing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207008"/>
          </a:xfrm>
          <a:prstGeom prst="rect">
            <a:avLst/>
          </a:prstGeom>
          <a:solidFill>
            <a:srgbClr val="FAFB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94360" cy="1207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594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335024"/>
            <a:ext cx="33832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Railway for permanent corporate-accessible URL independent of local machine.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207008"/>
          </a:xfrm>
          <a:prstGeom prst="rect">
            <a:avLst/>
          </a:prstGeom>
          <a:solidFill>
            <a:srgbClr val="FAFB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594360" cy="120700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594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68112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68112" y="1335024"/>
            <a:ext cx="33832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process engineers, batch events and unit operations: granulation, coating, packaging.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206240" cy="1207008"/>
          </a:xfrm>
          <a:prstGeom prst="rect">
            <a:avLst/>
          </a:prstGeom>
          <a:solidFill>
            <a:srgbClr val="FAFB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594360" cy="120700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86000"/>
            <a:ext cx="594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7552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CPV Integration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2706624"/>
            <a:ext cx="33832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knowledge graph nodes to CPV (Continued Process Verification) risk model entries.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206240" cy="1207008"/>
          </a:xfrm>
          <a:prstGeom prst="rect">
            <a:avLst/>
          </a:prstGeom>
          <a:solidFill>
            <a:srgbClr val="FAFB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594360" cy="1207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86000"/>
            <a:ext cx="594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68112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Cross-Batch Risk Signals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68112" y="2706624"/>
            <a:ext cx="33832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parameters flagged in ≥2 deviation events across batches and alert the admin.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206240" cy="1207008"/>
          </a:xfrm>
          <a:prstGeom prst="rect">
            <a:avLst/>
          </a:prstGeom>
          <a:solidFill>
            <a:srgbClr val="FAFB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57600"/>
            <a:ext cx="594360" cy="12070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57600"/>
            <a:ext cx="594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7552" y="3749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Query Interface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7552" y="4078224"/>
            <a:ext cx="33832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SPARQL or Cypher query interface for downstream agents and regulatory reporting.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206240" cy="1207008"/>
          </a:xfrm>
          <a:prstGeom prst="rect">
            <a:avLst/>
          </a:prstGeom>
          <a:solidFill>
            <a:srgbClr val="FAFBFF"/>
          </a:solidFill>
          <a:ln w="12700">
            <a:solidFill>
              <a:srgbClr val="E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57600"/>
            <a:ext cx="594360" cy="1207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57600"/>
            <a:ext cx="594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68112" y="3749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68112" y="4078224"/>
            <a:ext cx="33832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layer — separate Engineer view and Admin view with audit-logged access control.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Companion Agent Pipeline  |  Executive Briefing  |  2026   |   TTK Companion Agent Pipeline —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TTK Companion Agent Pipeline — Executive Briefing</dc:title>
  <dc:subject>PptxGenJS Presentation</dc:subject>
  <dc:creator>TTK Agent</dc:creator>
  <cp:lastModifiedBy>TTK Agent</cp:lastModifiedBy>
  <cp:revision>1</cp:revision>
  <dcterms:created xsi:type="dcterms:W3CDTF">2026-05-19T10:41:44Z</dcterms:created>
  <dcterms:modified xsi:type="dcterms:W3CDTF">2026-05-19T10:41:44Z</dcterms:modified>
</cp:coreProperties>
</file>