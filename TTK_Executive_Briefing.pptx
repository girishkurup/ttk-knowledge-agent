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0"/>
            <a:ext cx="2286000" cy="2011680"/>
          </a:xfrm>
          <a:prstGeom prst="rect">
            <a:avLst/>
          </a:prstGeom>
          <a:solidFill>
            <a:srgbClr val="1A2880"/>
          </a:solidFill>
          <a:ln w="12700">
            <a:solidFill>
              <a:srgbClr val="1A28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274320"/>
            <a:ext cx="1371600" cy="137160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2194560" cy="34747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0584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BRIEFING  |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11480" y="1508760"/>
            <a:ext cx="71323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TTK Companion</a:t>
            </a:r>
            <a:endParaRPr lang="en-US" sz="4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 Pipeline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11480" y="3291840"/>
            <a:ext cx="6858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Pharmaceutical Knowledge Capture for Tech Transfers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60E2E"/>
          </a:solidFill>
          <a:ln w="12700">
            <a:solidFill>
              <a:srgbClr val="060E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4663440"/>
            <a:ext cx="859536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99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knowledge.ngrok-free.app    |    github.com/girishkurup/ttk-knowledge-agent    |    Powered by Claude (Anthropic)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2834640" cy="45720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60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280160" y="1508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D1B4B"/>
                </a:solidFill>
              </a:rPr>
              <a:t>⚠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438912" y="2331720"/>
            <a:ext cx="250545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tacit knowledge lost during pilot-to-commercial scale-up transitions in pharmaceutical manufacturing. Repeated batch failures. No cross-batch pattern detection.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96012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60120"/>
            <a:ext cx="2834640" cy="45720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46120" y="960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251960" y="1508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3949AB"/>
                </a:solidFill>
              </a:rPr>
              <a:t>⚙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410712" y="2331720"/>
            <a:ext cx="250545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6-agent AI pipeline that automatically captures, structures and preserves process engineer knowledge during batch deviation events via a structured interview.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960120"/>
            <a:ext cx="283464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217920" y="960120"/>
            <a:ext cx="2834640" cy="45720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17920" y="9601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23760" y="1508760"/>
            <a:ext cx="822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695C"/>
                </a:solidFill>
              </a:rPr>
              <a:t>✓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382512" y="2331720"/>
            <a:ext cx="2505456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produces a Knowledge Article, Best Practices Checklist and an interactive Knowledge Graph — all stored in a queryable SQLite database.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" y="4617720"/>
            <a:ext cx="8595360" cy="32004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461772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949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Live:  knowledge.ngrok-free.app   |   Source:  github.com/girishkurup/ttk-knowledge-agent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TTK Companion Agent Pipeline  |  Executive Briefing  | 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 — Knowledge Loss at Scale-Up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64008" cy="56692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005840"/>
            <a:ext cx="8046720" cy="566928"/>
          </a:xfrm>
          <a:prstGeom prst="rect">
            <a:avLst/>
          </a:prstGeom>
          <a:solidFill>
            <a:srgbClr val="F4F5FB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005840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Tacit knowledge lost when experienced engineers retire or transfer between sites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" y="1755648"/>
            <a:ext cx="64008" cy="566928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755648"/>
            <a:ext cx="8046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55648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failures repeat because lessons are never formally documented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20040" y="2505456"/>
            <a:ext cx="64008" cy="566928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2920" y="2505456"/>
            <a:ext cx="8046720" cy="566928"/>
          </a:xfrm>
          <a:prstGeom prst="rect">
            <a:avLst/>
          </a:prstGeom>
          <a:solidFill>
            <a:srgbClr val="F4F5FB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505456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deviations at commercial scale (capping, weight variability) cost millions in rejected batches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0040" y="3255264"/>
            <a:ext cx="64008" cy="566928"/>
          </a:xfrm>
          <a:prstGeom prst="rect">
            <a:avLst/>
          </a:prstGeom>
          <a:solidFill>
            <a:srgbClr val="F57F17"/>
          </a:solidFill>
          <a:ln w="12700">
            <a:solidFill>
              <a:srgbClr val="F57F1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" y="3255264"/>
            <a:ext cx="80467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3255264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documentation is manual, inconsistent, and rarely completed in practice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20040" y="4005072"/>
            <a:ext cx="64008" cy="56692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02920" y="4005072"/>
            <a:ext cx="8046720" cy="566928"/>
          </a:xfrm>
          <a:prstGeom prst="rect">
            <a:avLst/>
          </a:prstGeom>
          <a:solidFill>
            <a:srgbClr val="F4F5FB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005072"/>
            <a:ext cx="7772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cross-batch pattern detection — each deviation event treated in isolation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138160" y="1005840"/>
            <a:ext cx="777240" cy="374904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38160" y="1005840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$M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8138160" y="1719072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Lost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138160" y="2432304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138160" y="3145536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batch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38160" y="3858768"/>
            <a:ext cx="777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TTK Companion Agent Pipeline  |  Executive Briefing  | 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Architecture — Two Pipelines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1605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4160520" cy="41148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PIPELINE  —  Automatic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14630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TTK Interview Agent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171907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5-turn conversation with process engineer via WebSocket streaming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1965960"/>
            <a:ext cx="128016" cy="41148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423160"/>
            <a:ext cx="411480" cy="41148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60120" y="2423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Synthesis Agent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67919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Knowledge Article + Risk Verification Checklist from interview JSON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94360" y="2926080"/>
            <a:ext cx="128016" cy="411480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3383280"/>
            <a:ext cx="411480" cy="41148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383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60120" y="3383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Agent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36393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entities &amp; relationships into graph nodes/edges, stored in SQLite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914400"/>
            <a:ext cx="4160520" cy="3520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914400"/>
            <a:ext cx="4160520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09160" y="914400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PIPELINE  —  On Demand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892040" y="1463040"/>
            <a:ext cx="411480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892040" y="1463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394960" y="146304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KA Agent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394960" y="171907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Consolidates all sessions into one authoritative Knowledge Article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29200" y="1965960"/>
            <a:ext cx="128016" cy="4114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92040" y="2423160"/>
            <a:ext cx="411480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92040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394960" y="242316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Checklist Agent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94960" y="267919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De-duplicated cross-session best practices checklist with [CRITICAL] tags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0" y="2926080"/>
            <a:ext cx="128016" cy="411480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92040" y="3383280"/>
            <a:ext cx="411480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92040" y="3383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394960" y="3383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Graph Agent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5394960" y="3639312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knowledge graph — SQL merge or full LLM re-extraction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74320" y="4572000"/>
            <a:ext cx="8595360" cy="27432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74320" y="45720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Stack:  Claude API (Anthropic)  |  FastAPI  |  WebSocket  |  SQLite  |  vis-network  |  ngrok  |  GitHub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TTK Companion Agent Pipeline  |  Executive Briefing  | 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AI Agents — Roles &amp; Responsibilities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914400"/>
            <a:ext cx="2788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28600" y="914400"/>
            <a:ext cx="2788920" cy="34747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316736"/>
            <a:ext cx="384048" cy="38404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1316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28600" y="9144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TTK Interview Agent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95528" y="1316736"/>
            <a:ext cx="213055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 elicitation via WebSocket streaming. ICH Q9 risk classification. EU SPOR dosage form referential. Max 7 turns.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154680" y="914400"/>
            <a:ext cx="2788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914400"/>
            <a:ext cx="2788920" cy="34747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16736"/>
            <a:ext cx="384048" cy="384048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316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154680" y="9144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Synthesis Agent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721608" y="1316736"/>
            <a:ext cx="213055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Knowledge Article + Risk Verification Checklist from interview JSON. Never infers — only confirmed engineer data.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914400"/>
            <a:ext cx="2788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80760" y="914400"/>
            <a:ext cx="2788920" cy="347472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72200" y="1316736"/>
            <a:ext cx="384048" cy="384048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72200" y="13167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080760" y="91440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Graph Agent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47688" y="1316736"/>
            <a:ext cx="213055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entities &amp; relationships into structured graph JSON. 14 node types. Stores nodes/edges in SQLite automatically.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28600" y="2926080"/>
            <a:ext cx="2788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228600" y="2926080"/>
            <a:ext cx="2788920" cy="347472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" y="3328416"/>
            <a:ext cx="384048" cy="3840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004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228600" y="292608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KA Agent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795528" y="3328416"/>
            <a:ext cx="213055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Consolidates all session articles into one authoritative document. Surfaces patterns and tacit knowledge across all sessions.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154680" y="2926080"/>
            <a:ext cx="2788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154680" y="2926080"/>
            <a:ext cx="2788920" cy="347472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46120" y="3328416"/>
            <a:ext cx="384048" cy="384048"/>
          </a:xfrm>
          <a:prstGeom prst="rect">
            <a:avLst/>
          </a:prstGeom>
          <a:solidFill>
            <a:srgbClr val="00897B"/>
          </a:solidFill>
          <a:ln w="12700">
            <a:solidFill>
              <a:srgbClr val="00897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4612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3154680" y="292608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Checklist Agent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721608" y="3328416"/>
            <a:ext cx="213055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Cross-session best practices checklist with [CRITICAL] tags. De-duplicated, phase-grouped: Pre-Scale-Up → Documentation.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6080760" y="2926080"/>
            <a:ext cx="27889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AF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6080760" y="2926080"/>
            <a:ext cx="2788920" cy="347472"/>
          </a:xfrm>
          <a:prstGeom prst="rect">
            <a:avLst/>
          </a:prstGeom>
          <a:solidFill>
            <a:srgbClr val="F57F17"/>
          </a:solidFill>
          <a:ln w="12700">
            <a:solidFill>
              <a:srgbClr val="F57F1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172200" y="3328416"/>
            <a:ext cx="384048" cy="384048"/>
          </a:xfrm>
          <a:prstGeom prst="rect">
            <a:avLst/>
          </a:prstGeom>
          <a:solidFill>
            <a:srgbClr val="F57F17"/>
          </a:solidFill>
          <a:ln w="12700">
            <a:solidFill>
              <a:srgbClr val="F57F1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080760" y="2926080"/>
            <a:ext cx="2788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Graph Agent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647688" y="3328416"/>
            <a:ext cx="2130552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graph via SQL merge (fast, no LLM) or full re-extraction. Cross-session edges: CONFIRMED_BY, ALSO_OBSERVED_IN.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TTK Companion Agent Pipeline  |  Executive Briefing  |  2026   |   Agents 1–3 run automatically | Agents 4–6 run on demand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Features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60120"/>
            <a:ext cx="64008" cy="117043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38912" y="10515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Streaming Interview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38912" y="1344168"/>
            <a:ext cx="393192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 streaming — AI agent types live in browser with no page refresh. Up to 7 engineer turns.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54880" y="96012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960120"/>
            <a:ext cx="64008" cy="117043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19472" y="10515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Article Generation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19472" y="1344168"/>
            <a:ext cx="393192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Auto-generated Markdown article with context, root cause, mitigation and knowledge classification tags.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28600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74320" y="2286000"/>
            <a:ext cx="64008" cy="117043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912" y="23774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Best Practices Checklist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8912" y="2670048"/>
            <a:ext cx="393192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Checkbox-enabled checklist with [CRITICAL] tags. Phase-grouped: Pre-Scale-Up → Compression → Documentation.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228600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54880" y="2286000"/>
            <a:ext cx="64008" cy="117043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19472" y="23774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Knowledge Graph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919472" y="2670048"/>
            <a:ext cx="393192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nodes, 46 edges across 4 sessions. vis-network browser visualisation with search and node inspector.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361188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74320" y="3611880"/>
            <a:ext cx="64008" cy="117043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912" y="37033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Persistence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8912" y="3995928"/>
            <a:ext cx="393192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message, artifact, graph node/edge stored. Auto-migration of legacy JSON files on startup.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754880" y="3611880"/>
            <a:ext cx="42062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754880" y="3611880"/>
            <a:ext cx="64008" cy="117043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19472" y="37033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919472" y="3995928"/>
            <a:ext cx="393192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sidebar, transcript viewer modal, tab results, LLM streaming — all via WebSocket.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TTK Companion Agent Pipeline  |  Executive Briefing  | 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Graph — Unified Cross-Session Intelligence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1920240" cy="128016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320040" y="9144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320040" y="1783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68880" y="914400"/>
            <a:ext cx="1920240" cy="128016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2468880" y="9144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46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2468880" y="1783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617720" y="914400"/>
            <a:ext cx="1920240" cy="12801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617720" y="9144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4617720" y="1783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766560" y="914400"/>
            <a:ext cx="1920240" cy="1280160"/>
          </a:xfrm>
          <a:prstGeom prst="rect">
            <a:avLst/>
          </a:prstGeom>
          <a:solidFill>
            <a:srgbClr val="F57F17"/>
          </a:solidFill>
          <a:ln w="12700">
            <a:solidFill>
              <a:srgbClr val="F57F1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766560" y="914400"/>
            <a:ext cx="1920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5200" dirty="0"/>
          </a:p>
        </p:txBody>
      </p:sp>
      <p:sp>
        <p:nvSpPr>
          <p:cNvPr id="15" name="Text 13"/>
          <p:cNvSpPr/>
          <p:nvPr/>
        </p:nvSpPr>
        <p:spPr>
          <a:xfrm>
            <a:off x="6766560" y="17830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Types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0040" y="2532888"/>
            <a:ext cx="64008" cy="50292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423160"/>
            <a:ext cx="4160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types: Batch, Product, Engineer, Operator, Equipment, Site, Issue, Parameter, RootCause, Material, Action, Resolution, Lesson, Observation, Session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3337560"/>
            <a:ext cx="64008" cy="50292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3227832"/>
            <a:ext cx="4160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by Claude LLM from interview transcripts automatically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20040" y="4142232"/>
            <a:ext cx="64008" cy="50292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4032504"/>
            <a:ext cx="4160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in SQLite — graph_nodes + graph_edges tables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846320" y="2532888"/>
            <a:ext cx="64008" cy="5029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0" y="2423160"/>
            <a:ext cx="4160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Cross-session edges: CONFIRMED_BY, ALSO_OBSERVED_IN, GENERALISES_TO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46320" y="3337560"/>
            <a:ext cx="64008" cy="5029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0" y="3227832"/>
            <a:ext cx="4160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Visualised interactively via vis-network in browser — search, filter, inspect any node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846320" y="4142232"/>
            <a:ext cx="64008" cy="5029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0" y="4032504"/>
            <a:ext cx="41605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Admin: merge all sessions (SQL, instant) or re-extract via LLM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526280" y="2377440"/>
            <a:ext cx="45720" cy="237744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TTK Companion Agent Pipeline  |  Executive Briefing  | 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60E2E"/>
          </a:solidFill>
          <a:ln w="12700">
            <a:solidFill>
              <a:srgbClr val="060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Compliance &amp; Guardrails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457200" cy="54864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515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⚖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4128" y="96012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SPOR referential for dosage form classification — controlled vocabulary only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457200" cy="54864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659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24128" y="187452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Q9 risk classification — High / Medium / Low — confirmed by engineer before proceeding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457200" cy="54864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880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24128" y="278892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article or checklist published without explicit engineer confirmation — GxP compliant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457200" cy="54864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794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▤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24128" y="370332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GxP audit trail — all agent actions logged with timestamp, session ID and engineer identity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846320" y="1051560"/>
            <a:ext cx="457200" cy="54864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46320" y="10515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◉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13248" y="96012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 handling per data privacy policy — engineer names stored only in session context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846320" y="1965960"/>
            <a:ext cx="457200" cy="54864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46320" y="19659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↺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413248" y="187452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agent versions all node and edge mutations — no silent overwrites of confirmed data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46320" y="2880360"/>
            <a:ext cx="457200" cy="548640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46320" y="28803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✗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413248" y="2788920"/>
            <a:ext cx="393192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fabricated classifications — agent always confirms with engineer before registering any tag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060E2E"/>
          </a:solidFill>
          <a:ln w="12700">
            <a:solidFill>
              <a:srgbClr val="060E2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455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TTK Companion Agent Pipeline  |  Executive Briefing  | 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 &amp; Access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7889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2788920" cy="438912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11480" y="1481328"/>
            <a:ext cx="2514600" cy="402336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" y="148132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localhost:8000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242316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 app:app --reload --port 8000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view: /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dashboard: /admin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DB: ttk_output/ttk_knowledge.db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00400" y="914400"/>
            <a:ext cx="27889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0" y="914400"/>
            <a:ext cx="2788920" cy="438912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00400" y="914400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337560" y="1481328"/>
            <a:ext cx="2514600" cy="402336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37560" y="148132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949A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knowledge.ngrok-free.app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2011680"/>
            <a:ext cx="242316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ngrok static domain (free tier)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URL — no change on restart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Engineer: knowledge.ngrok-free.app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Admin: knowledge.ngrok-free.app/admin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914400"/>
            <a:ext cx="278892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26480" y="914400"/>
            <a:ext cx="2788920" cy="438912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914400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(RECOMMENDED)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63640" y="1481328"/>
            <a:ext cx="2514600" cy="402336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63640" y="1481328"/>
            <a:ext cx="2514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Railway.app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309360" y="2011680"/>
            <a:ext cx="2423160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railway.toml included in repo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github.com/girishkurup/ttk-knowledge-agent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ANTHROPIC_API_KEY in Railway dashboard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100" dirty="0">
                <a:solidFill>
                  <a:srgbClr val="1C1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Permanent URL — no laptop required</a:t>
            </a:r>
            <a:endParaRPr lang="en-US" sz="1100" dirty="0"/>
          </a:p>
          <a:p>
            <a:pPr indent="0" marL="0">
              <a:lnSpc>
                <a:spcPct val="140000"/>
              </a:lnSpc>
              <a:buNone/>
            </a:pP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8595360" cy="27432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4320" y="46177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 github.com/girishkurup/ttk-knowledge-agent  —  All source code + session data + SQLite DB committed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TTK Companion Agent Pipeline  |  Executive Briefing  | 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 — Next Steps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206240" cy="1207008"/>
          </a:xfrm>
          <a:prstGeom prst="rect">
            <a:avLst/>
          </a:prstGeom>
          <a:solidFill>
            <a:srgbClr val="FAFB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914400"/>
            <a:ext cx="594360" cy="1207008"/>
          </a:xfrm>
          <a:prstGeom prst="rect">
            <a:avLst/>
          </a:prstGeom>
          <a:solidFill>
            <a:srgbClr val="0D1B4B"/>
          </a:solidFill>
          <a:ln w="12700">
            <a:solidFill>
              <a:srgbClr val="0D1B4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914400"/>
            <a:ext cx="594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87552" y="10058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Deployment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87552" y="1335024"/>
            <a:ext cx="338328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to Railway for permanent corporate-accessible URL independent of local machine.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914400"/>
            <a:ext cx="4206240" cy="1207008"/>
          </a:xfrm>
          <a:prstGeom prst="rect">
            <a:avLst/>
          </a:prstGeom>
          <a:solidFill>
            <a:srgbClr val="FAFB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914400"/>
            <a:ext cx="594360" cy="1207008"/>
          </a:xfrm>
          <a:prstGeom prst="rect">
            <a:avLst/>
          </a:prstGeom>
          <a:solidFill>
            <a:srgbClr val="3949AB"/>
          </a:solidFill>
          <a:ln w="12700">
            <a:solidFill>
              <a:srgbClr val="3949A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54880" y="914400"/>
            <a:ext cx="594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468112" y="10058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Coverage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68112" y="1335024"/>
            <a:ext cx="338328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more process engineers, batch events and unit operations: granulation, coating, packaging.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74320" y="2286000"/>
            <a:ext cx="4206240" cy="1207008"/>
          </a:xfrm>
          <a:prstGeom prst="rect">
            <a:avLst/>
          </a:prstGeom>
          <a:solidFill>
            <a:srgbClr val="FAFB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274320" y="2286000"/>
            <a:ext cx="594360" cy="1207008"/>
          </a:xfrm>
          <a:prstGeom prst="rect">
            <a:avLst/>
          </a:prstGeom>
          <a:solidFill>
            <a:srgbClr val="5C6BC0"/>
          </a:solidFill>
          <a:ln w="12700">
            <a:solidFill>
              <a:srgbClr val="5C6B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2286000"/>
            <a:ext cx="594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87552" y="2377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CPV Integration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87552" y="2706624"/>
            <a:ext cx="338328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 knowledge graph nodes to CPV (Continued Process Verification) risk model entries.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54880" y="2286000"/>
            <a:ext cx="4206240" cy="1207008"/>
          </a:xfrm>
          <a:prstGeom prst="rect">
            <a:avLst/>
          </a:prstGeom>
          <a:solidFill>
            <a:srgbClr val="FAFB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754880" y="2286000"/>
            <a:ext cx="594360" cy="120700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754880" y="2286000"/>
            <a:ext cx="594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468112" y="2377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Cross-Batch Risk Signals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468112" y="2706624"/>
            <a:ext cx="338328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 parameters flagged in ≥2 deviation events across batches and alert the admin.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74320" y="3657600"/>
            <a:ext cx="4206240" cy="1207008"/>
          </a:xfrm>
          <a:prstGeom prst="rect">
            <a:avLst/>
          </a:prstGeom>
          <a:solidFill>
            <a:srgbClr val="FAFB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274320" y="3657600"/>
            <a:ext cx="594360" cy="1207008"/>
          </a:xfrm>
          <a:prstGeom prst="rect">
            <a:avLst/>
          </a:prstGeom>
          <a:solidFill>
            <a:srgbClr val="F57F17"/>
          </a:solidFill>
          <a:ln w="12700">
            <a:solidFill>
              <a:srgbClr val="F57F1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74320" y="3657600"/>
            <a:ext cx="594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87552" y="3749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Query Interface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87552" y="4078224"/>
            <a:ext cx="338328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SPARQL or Cypher query interface for downstream agents and regulatory reporting.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54880" y="3657600"/>
            <a:ext cx="4206240" cy="1207008"/>
          </a:xfrm>
          <a:prstGeom prst="rect">
            <a:avLst/>
          </a:prstGeom>
          <a:solidFill>
            <a:srgbClr val="FAFBFF"/>
          </a:solidFill>
          <a:ln w="12700">
            <a:solidFill>
              <a:srgbClr val="E0E3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54880" y="3657600"/>
            <a:ext cx="594360" cy="1207008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54880" y="3657600"/>
            <a:ext cx="59436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68112" y="3749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B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468112" y="4078224"/>
            <a:ext cx="3383280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layer — separate Engineer view and Admin view with audit-logged access control.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0" y="4892040"/>
            <a:ext cx="9144000" cy="251460"/>
          </a:xfrm>
          <a:prstGeom prst="rect">
            <a:avLst/>
          </a:prstGeom>
          <a:solidFill>
            <a:srgbClr val="E8EAF6"/>
          </a:solidFill>
          <a:ln w="12700">
            <a:solidFill>
              <a:srgbClr val="E8EA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74320" y="4892040"/>
            <a:ext cx="859536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TTK Companion Agent Pipeline  |  Executive Briefing  |  2026   |   TTK Companion Agent Pipeline — Confidential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TTK Companion Agent Pipeline — Executive Briefing</dc:title>
  <dc:subject>PptxGenJS Presentation</dc:subject>
  <dc:creator>TTK Agent</dc:creator>
  <cp:lastModifiedBy>TTK Agent</cp:lastModifiedBy>
  <cp:revision>1</cp:revision>
  <dcterms:created xsi:type="dcterms:W3CDTF">2026-05-19T10:26:29Z</dcterms:created>
  <dcterms:modified xsi:type="dcterms:W3CDTF">2026-05-19T10:26:29Z</dcterms:modified>
</cp:coreProperties>
</file>